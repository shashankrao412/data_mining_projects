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63" r:id="rId11"/>
    <p:sldId id="264" r:id="rId12"/>
    <p:sldId id="265" r:id="rId13"/>
    <p:sldId id="266" r:id="rId14"/>
    <p:sldId id="267" r:id="rId15"/>
    <p:sldId id="274" r:id="rId16"/>
    <p:sldId id="268" r:id="rId17"/>
    <p:sldId id="269" r:id="rId18"/>
    <p:sldId id="270" r:id="rId19"/>
    <p:sldId id="271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5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6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NZB3AxbaDQN13wNHlZLhKXA65r91yew_1NgBmGygBwM/edit?resourcekey=&amp;gid=1103731540#gid=1103731540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shankrao412/data_mining_projects/tree/main/Final_projec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lavanyae4319/Smart_Campus_Analytic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AND BIG DATA ANALYTICS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Campus Analytics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Student Experience &amp; Engagement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59" y="4480560"/>
            <a:ext cx="68374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Lavanya E, Dechamma KP, Bhoomika YD, L Prajwal, Shashank Rao, Ganesh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87034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Semester:  MCA(Data Science), 3</a:t>
            </a:r>
            <a:r>
              <a:rPr lang="en-US" sz="1400" b="1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952" y="53529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Nagasri 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Analytics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07008" y="17373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26334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352958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07008" y="44256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367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07008" y="532180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893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47688" y="17373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89320" y="26791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8932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47688" y="26334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89320" y="35753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893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47688" y="352958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989320" y="44714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98932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47688" y="44256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989320" y="5367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8932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47688" y="532180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Future Scope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Analytics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 · 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82869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Background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9275"/>
            <a:ext cx="10220785" cy="46634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provide many facilities that influence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satisfaction and engagement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have different experiences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classrooms, faculty, Wi-Fi, cafeteria, library, clubs, safety and transportation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feedback makes it difficult to identify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problems and important factors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discover patterns and group students based on their experiences.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student satisfaction groups, while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important satisfaction factors.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Happiness Index (0–100)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interactive dashboard provide clear insights.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help the university identify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areas and plan improvements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990" y="122577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0990" y="10799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669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Survey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145 student responses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covering 11 campus facility dimensions, collected through Google Forms.</a:t>
            </a:r>
            <a:b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responses from different academic departments and satisfaction ratings from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1–5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Unsupervised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group students with similar satisfaction patterns.</a:t>
            </a:r>
            <a:b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groups are interpreted as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Moderate, and High Satisfaction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0876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Supervised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classifier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Satisfied / Not Satisfied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students.</a:t>
            </a:r>
            <a:b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identifies the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influencing the classification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7804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Delivery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37960" y="47320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Gradio dashboard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KPIs, graphs, clusters, model results, and action plans.</a:t>
            </a:r>
            <a:b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also enter their ratings to view their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Happiness Index and satisfaction status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 · 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Existing Problem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Universities gather feedback but rarely act on it systematically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1587587"/>
            <a:ext cx="11023250" cy="4173133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📋 Buried in Spreadsheets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Survey data is stored in spreadsheets, making it difficult to understand and analyze.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⏳ Slow Manual 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Manually reviewing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145+ responses across 11 facility dimensions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a lot of time and may give inconsistent results.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👥 No Student Segmentation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Students cannot be easily grouped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Moderate, and High Satisfaction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📊 Limited Visualization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Raw survey data does not provide an easy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view of satisfaction, trends, clusters, and major concerns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💡 Difficult to Prioritize Improvements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administrators may not know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facilities need improvement first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25880" y="1847088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Quantify a single Happiness Index (0-100) per student from 11 facility ratings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25880" y="2688336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508760" y="268833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 students into meaningful satisfaction clusters using K-Means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25880" y="3529584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508760" y="352958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Classify students as Satisfied / Not Satisfied and rank which facilities drive that outcome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5880" y="4370832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508760" y="437083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 an interactive dashboard so staff can filter results by department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25880" y="5212080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508760" y="52120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 students a self-check tool with a personalized recommendation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 · ABOUT THE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755" y="827706"/>
            <a:ext cx="10515600" cy="529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Google Forms Survey Dataset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8755" y="1506473"/>
            <a:ext cx="1540851" cy="1418271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-443484" y="1663109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145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-443484" y="23225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F6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Responses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51047" y="1506474"/>
            <a:ext cx="1504130" cy="1417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15648" y="1722006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07679" y="23225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F6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Survey Questions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04399" y="1506474"/>
            <a:ext cx="1497656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06340" y="153619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81797" y="2389104"/>
            <a:ext cx="1583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F6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Rated Facility Dimensions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55377" y="1507425"/>
            <a:ext cx="1371803" cy="1417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37674" y="1722006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38258" y="240197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F6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Programs Covered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339021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Collection &amp; Cleaning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1436" y="3739896"/>
            <a:ext cx="6223747" cy="2018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Responses gathered live via a Google Form, exported to Excel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Fully empty rows / columns dropped; duplicate submissions removed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headers stripped of whitespace for consistent matching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satisfaction questions mapped to short facility labels (Wi-Fi, Library, Safety…)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numeric ratings imputed with the column median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021568" y="424967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7"/>
          <p:cNvSpPr/>
          <p:nvPr/>
        </p:nvSpPr>
        <p:spPr>
          <a:xfrm>
            <a:off x="6780276" y="134645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FACTORS ANALYZED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6780276" y="1757934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6908292" y="190423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6908292" y="190423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7283196" y="175793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Classrooms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9203436" y="1757934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9331452" y="190423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9331452" y="190423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9706356" y="175793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Faculty Interaction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6780276" y="2462022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6908292" y="260832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6908292" y="2608326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7283196" y="246202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Wi-Fi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9203436" y="2462022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9331452" y="260832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9331452" y="2608326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9706356" y="246202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Cafeteria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24"/>
          <p:cNvSpPr/>
          <p:nvPr/>
        </p:nvSpPr>
        <p:spPr>
          <a:xfrm>
            <a:off x="6780276" y="316611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25"/>
          <p:cNvSpPr/>
          <p:nvPr/>
        </p:nvSpPr>
        <p:spPr>
          <a:xfrm>
            <a:off x="6908292" y="331241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6908292" y="3312414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7283196" y="316611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Library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28"/>
          <p:cNvSpPr/>
          <p:nvPr/>
        </p:nvSpPr>
        <p:spPr>
          <a:xfrm>
            <a:off x="9203436" y="316611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29"/>
          <p:cNvSpPr/>
          <p:nvPr/>
        </p:nvSpPr>
        <p:spPr>
          <a:xfrm>
            <a:off x="9331452" y="331241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9331452" y="3312414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9706356" y="316611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32"/>
          <p:cNvSpPr/>
          <p:nvPr/>
        </p:nvSpPr>
        <p:spPr>
          <a:xfrm>
            <a:off x="6780276" y="387019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33"/>
          <p:cNvSpPr/>
          <p:nvPr/>
        </p:nvSpPr>
        <p:spPr>
          <a:xfrm>
            <a:off x="6908292" y="401650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6908292" y="4016502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7283196" y="387019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Clubs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36"/>
          <p:cNvSpPr/>
          <p:nvPr/>
        </p:nvSpPr>
        <p:spPr>
          <a:xfrm>
            <a:off x="9203436" y="387019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37"/>
          <p:cNvSpPr/>
          <p:nvPr/>
        </p:nvSpPr>
        <p:spPr>
          <a:xfrm>
            <a:off x="9331452" y="401650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38"/>
          <p:cNvSpPr/>
          <p:nvPr/>
        </p:nvSpPr>
        <p:spPr>
          <a:xfrm>
            <a:off x="9331452" y="4016502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39"/>
          <p:cNvSpPr/>
          <p:nvPr/>
        </p:nvSpPr>
        <p:spPr>
          <a:xfrm>
            <a:off x="9706356" y="387019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 Events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40"/>
          <p:cNvSpPr/>
          <p:nvPr/>
        </p:nvSpPr>
        <p:spPr>
          <a:xfrm>
            <a:off x="6780276" y="4574286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41"/>
          <p:cNvSpPr/>
          <p:nvPr/>
        </p:nvSpPr>
        <p:spPr>
          <a:xfrm>
            <a:off x="6908292" y="472059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42"/>
          <p:cNvSpPr/>
          <p:nvPr/>
        </p:nvSpPr>
        <p:spPr>
          <a:xfrm>
            <a:off x="6908292" y="472059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43"/>
          <p:cNvSpPr/>
          <p:nvPr/>
        </p:nvSpPr>
        <p:spPr>
          <a:xfrm>
            <a:off x="7283196" y="457428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Cleanliness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44"/>
          <p:cNvSpPr/>
          <p:nvPr/>
        </p:nvSpPr>
        <p:spPr>
          <a:xfrm>
            <a:off x="9203436" y="4574286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45"/>
          <p:cNvSpPr/>
          <p:nvPr/>
        </p:nvSpPr>
        <p:spPr>
          <a:xfrm>
            <a:off x="9331452" y="472059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46"/>
          <p:cNvSpPr/>
          <p:nvPr/>
        </p:nvSpPr>
        <p:spPr>
          <a:xfrm>
            <a:off x="9331452" y="472059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47"/>
          <p:cNvSpPr/>
          <p:nvPr/>
        </p:nvSpPr>
        <p:spPr>
          <a:xfrm>
            <a:off x="9706356" y="457428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48"/>
          <p:cNvSpPr/>
          <p:nvPr/>
        </p:nvSpPr>
        <p:spPr>
          <a:xfrm>
            <a:off x="6780276" y="5278374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hape 49"/>
          <p:cNvSpPr/>
          <p:nvPr/>
        </p:nvSpPr>
        <p:spPr>
          <a:xfrm>
            <a:off x="6908292" y="542467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50"/>
          <p:cNvSpPr/>
          <p:nvPr/>
        </p:nvSpPr>
        <p:spPr>
          <a:xfrm>
            <a:off x="6908292" y="542467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51"/>
          <p:cNvSpPr/>
          <p:nvPr/>
        </p:nvSpPr>
        <p:spPr>
          <a:xfrm>
            <a:off x="7283196" y="527837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Transportation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729392" y="1740087"/>
            <a:ext cx="3543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509025"/>
              </p:ext>
            </p:extLst>
          </p:nvPr>
        </p:nvGraphicFramePr>
        <p:xfrm>
          <a:off x="736598" y="1229357"/>
          <a:ext cx="10515604" cy="4876803"/>
        </p:xfrm>
        <a:graphic>
          <a:graphicData uri="http://schemas.openxmlformats.org/drawingml/2006/table">
            <a:tbl>
              <a:tblPr/>
              <a:tblGrid>
                <a:gridCol w="9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939323"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 dirty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Which program/department are you currently studying?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 dirty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Which semester are you currently studying?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the quality and availability of classroom facilities?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faculty interaction, guidance, and support?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the availability and quality of campus Wi-Fi?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 dirty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cafeteria food, cleanliness, and service?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library facilities, resources, and study environment?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sports facilities and opportunities?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student clubs and extracurricular activities?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technical events, workshops, seminars, and hackathons?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campus cleanliness and maintenance?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MSc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M.Tech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5158" y="534908"/>
            <a:ext cx="48107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Google Forms Survey Dataset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8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747791"/>
              </p:ext>
            </p:extLst>
          </p:nvPr>
        </p:nvGraphicFramePr>
        <p:xfrm>
          <a:off x="589282" y="660400"/>
          <a:ext cx="11074397" cy="5524966"/>
        </p:xfrm>
        <a:graphic>
          <a:graphicData uri="http://schemas.openxmlformats.org/drawingml/2006/table">
            <a:tbl>
              <a:tblPr/>
              <a:tblGrid>
                <a:gridCol w="184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5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7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82159"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 dirty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safety and security on campus?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university transportation facilities?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actively do you participate in campus activities, clubs, events, or workshops?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Overall, how satisfied are you with your experience at the university?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Which areas need the most improvement?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What is one improvement you would like the university to make?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910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Cafeteria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All good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910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Everything Good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5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facilities, Wi-Fi, Sports, Clubs, Cleanliness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 and wifi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2159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facilities, Faculty interaction, Wi-Fi, Cafeteria, Cleanliness, Transportation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Fixing the fans, internet and light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223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Faculty interaction, Wi-Fi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Food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223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facilities, Faculty interaction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Nothing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0847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Wi-Fi, Library, Clubs, Technical events, Safety, Transportation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Placements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4680" y="6395700"/>
            <a:ext cx="7676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Google Form</a:t>
            </a:r>
            <a:r>
              <a:rPr lang="en-GB" dirty="0"/>
              <a:t> Link</a:t>
            </a:r>
            <a:r>
              <a:rPr lang="en-IN" dirty="0"/>
              <a:t> of Survey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25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· METHODOLOGY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Raw Survey to Insight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5661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3162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316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Collection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145 responses gathered through a Google Form and exported as an Excel file.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54680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➜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0712" y="1920240"/>
            <a:ext cx="2606040" cy="35661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93692" y="22402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93692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47872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93592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Drop empty rows/cols, remove duplicates, map questions to facility labels, impute missing values.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16752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➜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2606040" cy="35661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55764" y="22402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55764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9944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Modeling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55664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Happiness Index calculated; K-Means clustering (k=3) and a Decision Tree classifier trained.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78824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➜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34856" y="1920240"/>
            <a:ext cx="2606040" cy="35661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117836" y="2240280"/>
            <a:ext cx="640080" cy="640080"/>
          </a:xfrm>
          <a:prstGeom prst="ellipse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117836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72016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317736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Cluster profiles reviewed; classifier accuracy and feature importance measured on a held-out test set.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/ 16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20" y="31432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 · SYSTEM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4"/>
          <p:cNvSpPr/>
          <p:nvPr/>
        </p:nvSpPr>
        <p:spPr>
          <a:xfrm>
            <a:off x="457200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Survey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5"/>
          <p:cNvSpPr/>
          <p:nvPr/>
        </p:nvSpPr>
        <p:spPr>
          <a:xfrm>
            <a:off x="2350008" y="1600200"/>
            <a:ext cx="1828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2551176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7"/>
          <p:cNvSpPr/>
          <p:nvPr/>
        </p:nvSpPr>
        <p:spPr>
          <a:xfrm>
            <a:off x="2551176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Excel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8"/>
          <p:cNvSpPr/>
          <p:nvPr/>
        </p:nvSpPr>
        <p:spPr>
          <a:xfrm>
            <a:off x="4443984" y="1600200"/>
            <a:ext cx="1828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4645152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10"/>
          <p:cNvSpPr/>
          <p:nvPr/>
        </p:nvSpPr>
        <p:spPr>
          <a:xfrm>
            <a:off x="4645152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6537960" y="1600200"/>
            <a:ext cx="1828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6739128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13"/>
          <p:cNvSpPr/>
          <p:nvPr/>
        </p:nvSpPr>
        <p:spPr>
          <a:xfrm>
            <a:off x="6739128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8631936" y="1600200"/>
            <a:ext cx="1828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8833104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16"/>
          <p:cNvSpPr/>
          <p:nvPr/>
        </p:nvSpPr>
        <p:spPr>
          <a:xfrm>
            <a:off x="8833104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Exploratory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457200" y="2395728"/>
            <a:ext cx="1124712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283464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19"/>
          <p:cNvSpPr/>
          <p:nvPr/>
        </p:nvSpPr>
        <p:spPr>
          <a:xfrm>
            <a:off x="594360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K-Means Clustering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594360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Groups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21"/>
          <p:cNvSpPr/>
          <p:nvPr/>
        </p:nvSpPr>
        <p:spPr>
          <a:xfrm>
            <a:off x="4334256" y="283464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22"/>
          <p:cNvSpPr/>
          <p:nvPr/>
        </p:nvSpPr>
        <p:spPr>
          <a:xfrm>
            <a:off x="4471416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Tree Classification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4471416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Satisfaction Prediction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24"/>
          <p:cNvSpPr/>
          <p:nvPr/>
        </p:nvSpPr>
        <p:spPr>
          <a:xfrm>
            <a:off x="8211312" y="283464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25"/>
          <p:cNvSpPr/>
          <p:nvPr/>
        </p:nvSpPr>
        <p:spPr>
          <a:xfrm>
            <a:off x="8348472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Happiness Index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8348472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0–100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457200" y="3840480"/>
            <a:ext cx="1124712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28"/>
          <p:cNvSpPr/>
          <p:nvPr/>
        </p:nvSpPr>
        <p:spPr>
          <a:xfrm>
            <a:off x="457200" y="4160520"/>
            <a:ext cx="5532120" cy="685800"/>
          </a:xfrm>
          <a:prstGeom prst="roundRect">
            <a:avLst>
              <a:gd name="adj" fmla="val 10667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29"/>
          <p:cNvSpPr/>
          <p:nvPr/>
        </p:nvSpPr>
        <p:spPr>
          <a:xfrm>
            <a:off x="457200" y="416052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Dashboard (Gradio)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30"/>
          <p:cNvSpPr/>
          <p:nvPr/>
        </p:nvSpPr>
        <p:spPr>
          <a:xfrm>
            <a:off x="6007608" y="4160520"/>
            <a:ext cx="182880" cy="685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31"/>
          <p:cNvSpPr/>
          <p:nvPr/>
        </p:nvSpPr>
        <p:spPr>
          <a:xfrm>
            <a:off x="6208776" y="4160520"/>
            <a:ext cx="553212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32"/>
          <p:cNvSpPr/>
          <p:nvPr/>
        </p:nvSpPr>
        <p:spPr>
          <a:xfrm>
            <a:off x="6208776" y="416052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Insights &amp; Action Plan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722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 · WORKFLOW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472440" y="1237278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600456" y="129214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5"/>
          <p:cNvSpPr/>
          <p:nvPr/>
        </p:nvSpPr>
        <p:spPr>
          <a:xfrm>
            <a:off x="600456" y="129214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6"/>
          <p:cNvSpPr/>
          <p:nvPr/>
        </p:nvSpPr>
        <p:spPr>
          <a:xfrm>
            <a:off x="1094232" y="123727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Identification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472440" y="1804206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600456" y="185907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9"/>
          <p:cNvSpPr/>
          <p:nvPr/>
        </p:nvSpPr>
        <p:spPr>
          <a:xfrm>
            <a:off x="600456" y="185907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1094232" y="180420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Define Scope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472440" y="2371134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600456" y="242599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600456" y="242599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1094232" y="237113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Collection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472440" y="2938062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16"/>
          <p:cNvSpPr/>
          <p:nvPr/>
        </p:nvSpPr>
        <p:spPr>
          <a:xfrm>
            <a:off x="600456" y="299292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600456" y="299292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18"/>
          <p:cNvSpPr/>
          <p:nvPr/>
        </p:nvSpPr>
        <p:spPr>
          <a:xfrm>
            <a:off x="1094232" y="293806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Cleaning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19"/>
          <p:cNvSpPr/>
          <p:nvPr/>
        </p:nvSpPr>
        <p:spPr>
          <a:xfrm>
            <a:off x="472440" y="350499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20"/>
          <p:cNvSpPr/>
          <p:nvPr/>
        </p:nvSpPr>
        <p:spPr>
          <a:xfrm>
            <a:off x="600456" y="355985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600456" y="355985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22"/>
          <p:cNvSpPr/>
          <p:nvPr/>
        </p:nvSpPr>
        <p:spPr>
          <a:xfrm>
            <a:off x="1094232" y="350499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Exploratory Data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23"/>
          <p:cNvSpPr/>
          <p:nvPr/>
        </p:nvSpPr>
        <p:spPr>
          <a:xfrm>
            <a:off x="472440" y="4071918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24"/>
          <p:cNvSpPr/>
          <p:nvPr/>
        </p:nvSpPr>
        <p:spPr>
          <a:xfrm>
            <a:off x="600456" y="412678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25"/>
          <p:cNvSpPr/>
          <p:nvPr/>
        </p:nvSpPr>
        <p:spPr>
          <a:xfrm>
            <a:off x="600456" y="412678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26"/>
          <p:cNvSpPr/>
          <p:nvPr/>
        </p:nvSpPr>
        <p:spPr>
          <a:xfrm>
            <a:off x="1094232" y="407191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27"/>
          <p:cNvSpPr/>
          <p:nvPr/>
        </p:nvSpPr>
        <p:spPr>
          <a:xfrm>
            <a:off x="6233160" y="1237278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28"/>
          <p:cNvSpPr/>
          <p:nvPr/>
        </p:nvSpPr>
        <p:spPr>
          <a:xfrm>
            <a:off x="6361176" y="129214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29"/>
          <p:cNvSpPr/>
          <p:nvPr/>
        </p:nvSpPr>
        <p:spPr>
          <a:xfrm>
            <a:off x="6361176" y="129214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6854952" y="123727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31"/>
          <p:cNvSpPr/>
          <p:nvPr/>
        </p:nvSpPr>
        <p:spPr>
          <a:xfrm>
            <a:off x="6233160" y="1804206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32"/>
          <p:cNvSpPr/>
          <p:nvPr/>
        </p:nvSpPr>
        <p:spPr>
          <a:xfrm>
            <a:off x="6361176" y="185907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33"/>
          <p:cNvSpPr/>
          <p:nvPr/>
        </p:nvSpPr>
        <p:spPr>
          <a:xfrm>
            <a:off x="6361176" y="185907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6854952" y="180420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35"/>
          <p:cNvSpPr/>
          <p:nvPr/>
        </p:nvSpPr>
        <p:spPr>
          <a:xfrm>
            <a:off x="6233160" y="2371134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36"/>
          <p:cNvSpPr/>
          <p:nvPr/>
        </p:nvSpPr>
        <p:spPr>
          <a:xfrm>
            <a:off x="6361176" y="242599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37"/>
          <p:cNvSpPr/>
          <p:nvPr/>
        </p:nvSpPr>
        <p:spPr>
          <a:xfrm>
            <a:off x="6361176" y="242599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38"/>
          <p:cNvSpPr/>
          <p:nvPr/>
        </p:nvSpPr>
        <p:spPr>
          <a:xfrm>
            <a:off x="6854952" y="237113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Development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39"/>
          <p:cNvSpPr/>
          <p:nvPr/>
        </p:nvSpPr>
        <p:spPr>
          <a:xfrm>
            <a:off x="6233160" y="2938062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40"/>
          <p:cNvSpPr/>
          <p:nvPr/>
        </p:nvSpPr>
        <p:spPr>
          <a:xfrm>
            <a:off x="6361176" y="299292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41"/>
          <p:cNvSpPr/>
          <p:nvPr/>
        </p:nvSpPr>
        <p:spPr>
          <a:xfrm>
            <a:off x="6361176" y="299292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42"/>
          <p:cNvSpPr/>
          <p:nvPr/>
        </p:nvSpPr>
        <p:spPr>
          <a:xfrm>
            <a:off x="6854952" y="293806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 Plan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43"/>
          <p:cNvSpPr/>
          <p:nvPr/>
        </p:nvSpPr>
        <p:spPr>
          <a:xfrm>
            <a:off x="6233160" y="350499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44"/>
          <p:cNvSpPr/>
          <p:nvPr/>
        </p:nvSpPr>
        <p:spPr>
          <a:xfrm>
            <a:off x="6361176" y="355985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45"/>
          <p:cNvSpPr/>
          <p:nvPr/>
        </p:nvSpPr>
        <p:spPr>
          <a:xfrm>
            <a:off x="6361176" y="355985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46"/>
          <p:cNvSpPr/>
          <p:nvPr/>
        </p:nvSpPr>
        <p:spPr>
          <a:xfrm>
            <a:off x="6854952" y="350499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hape 47"/>
          <p:cNvSpPr/>
          <p:nvPr/>
        </p:nvSpPr>
        <p:spPr>
          <a:xfrm>
            <a:off x="472440" y="5001768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 48"/>
          <p:cNvSpPr/>
          <p:nvPr/>
        </p:nvSpPr>
        <p:spPr>
          <a:xfrm>
            <a:off x="746760" y="49149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understand student experience gaps.   </a:t>
            </a: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Mining 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apply K-Means and Decision Tree.   </a:t>
            </a: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dashboard, insights and recommendations.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 · TECHNOLOGY USED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6072" y="829266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Tools &amp; Libraries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FCFC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FCFC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678548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4"/>
          <p:cNvSpPr/>
          <p:nvPr/>
        </p:nvSpPr>
        <p:spPr>
          <a:xfrm>
            <a:off x="1730108" y="1993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5"/>
          <p:cNvSpPr/>
          <p:nvPr/>
        </p:nvSpPr>
        <p:spPr>
          <a:xfrm>
            <a:off x="173010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6"/>
          <p:cNvSpPr/>
          <p:nvPr/>
        </p:nvSpPr>
        <p:spPr>
          <a:xfrm>
            <a:off x="769988" y="2578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7"/>
          <p:cNvSpPr/>
          <p:nvPr/>
        </p:nvSpPr>
        <p:spPr>
          <a:xfrm>
            <a:off x="769988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programming language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3467468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9"/>
          <p:cNvSpPr/>
          <p:nvPr/>
        </p:nvSpPr>
        <p:spPr>
          <a:xfrm>
            <a:off x="4519028" y="1993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10"/>
          <p:cNvSpPr/>
          <p:nvPr/>
        </p:nvSpPr>
        <p:spPr>
          <a:xfrm>
            <a:off x="451902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3558908" y="2578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Colab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3558908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environment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6256388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14"/>
          <p:cNvSpPr/>
          <p:nvPr/>
        </p:nvSpPr>
        <p:spPr>
          <a:xfrm>
            <a:off x="7307948" y="1993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15"/>
          <p:cNvSpPr/>
          <p:nvPr/>
        </p:nvSpPr>
        <p:spPr>
          <a:xfrm>
            <a:off x="730794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6347828" y="2578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Excel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6347828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9045308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19"/>
          <p:cNvSpPr/>
          <p:nvPr/>
        </p:nvSpPr>
        <p:spPr>
          <a:xfrm>
            <a:off x="10096868" y="1993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20"/>
          <p:cNvSpPr/>
          <p:nvPr/>
        </p:nvSpPr>
        <p:spPr>
          <a:xfrm>
            <a:off x="1009686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9136748" y="2578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Pandas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9136748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23"/>
          <p:cNvSpPr/>
          <p:nvPr/>
        </p:nvSpPr>
        <p:spPr>
          <a:xfrm>
            <a:off x="678548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24"/>
          <p:cNvSpPr/>
          <p:nvPr/>
        </p:nvSpPr>
        <p:spPr>
          <a:xfrm>
            <a:off x="1730108" y="35478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25"/>
          <p:cNvSpPr/>
          <p:nvPr/>
        </p:nvSpPr>
        <p:spPr>
          <a:xfrm>
            <a:off x="1730108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769988" y="4133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27"/>
          <p:cNvSpPr/>
          <p:nvPr/>
        </p:nvSpPr>
        <p:spPr>
          <a:xfrm>
            <a:off x="769988" y="4416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Numerical operations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28"/>
          <p:cNvSpPr/>
          <p:nvPr/>
        </p:nvSpPr>
        <p:spPr>
          <a:xfrm>
            <a:off x="3467468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29"/>
          <p:cNvSpPr/>
          <p:nvPr/>
        </p:nvSpPr>
        <p:spPr>
          <a:xfrm>
            <a:off x="4519028" y="35478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30"/>
          <p:cNvSpPr/>
          <p:nvPr/>
        </p:nvSpPr>
        <p:spPr>
          <a:xfrm>
            <a:off x="4519028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3558908" y="4133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Scikit-learn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32"/>
          <p:cNvSpPr/>
          <p:nvPr/>
        </p:nvSpPr>
        <p:spPr>
          <a:xfrm>
            <a:off x="3558908" y="4416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33"/>
          <p:cNvSpPr/>
          <p:nvPr/>
        </p:nvSpPr>
        <p:spPr>
          <a:xfrm>
            <a:off x="6256388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34"/>
          <p:cNvSpPr/>
          <p:nvPr/>
        </p:nvSpPr>
        <p:spPr>
          <a:xfrm>
            <a:off x="7307948" y="35478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35"/>
          <p:cNvSpPr/>
          <p:nvPr/>
        </p:nvSpPr>
        <p:spPr>
          <a:xfrm>
            <a:off x="7307948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36"/>
          <p:cNvSpPr/>
          <p:nvPr/>
        </p:nvSpPr>
        <p:spPr>
          <a:xfrm>
            <a:off x="6347828" y="4133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Plotly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37"/>
          <p:cNvSpPr/>
          <p:nvPr/>
        </p:nvSpPr>
        <p:spPr>
          <a:xfrm>
            <a:off x="6347828" y="4416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visualization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38"/>
          <p:cNvSpPr/>
          <p:nvPr/>
        </p:nvSpPr>
        <p:spPr>
          <a:xfrm>
            <a:off x="9045308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39"/>
          <p:cNvSpPr/>
          <p:nvPr/>
        </p:nvSpPr>
        <p:spPr>
          <a:xfrm>
            <a:off x="10096868" y="35478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40"/>
          <p:cNvSpPr/>
          <p:nvPr/>
        </p:nvSpPr>
        <p:spPr>
          <a:xfrm>
            <a:off x="10096868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41"/>
          <p:cNvSpPr/>
          <p:nvPr/>
        </p:nvSpPr>
        <p:spPr>
          <a:xfrm>
            <a:off x="9136748" y="4133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42"/>
          <p:cNvSpPr/>
          <p:nvPr/>
        </p:nvSpPr>
        <p:spPr>
          <a:xfrm>
            <a:off x="9136748" y="4416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dashboard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43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8696"/>
            </a:avLst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44"/>
          <p:cNvSpPr/>
          <p:nvPr/>
        </p:nvSpPr>
        <p:spPr>
          <a:xfrm>
            <a:off x="777240" y="5330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 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45"/>
          <p:cNvSpPr/>
          <p:nvPr/>
        </p:nvSpPr>
        <p:spPr>
          <a:xfrm>
            <a:off x="7772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K-Means Clustering   •   Decision Tree Classification   •   StandardScaler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 · IMPLEMENTATION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30303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Live Dashboard Tab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6618" y="1876096"/>
            <a:ext cx="7286823" cy="420466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943" y="1985937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7943" y="1985937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3743" y="2059089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Administrators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943" y="2671736"/>
            <a:ext cx="6604175" cy="3383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filter (All / B.Tech / BCA / BSc / M.Tech / MCA / MSc)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Headline metrics: student count, average rating, happiness index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Horizontal bar chart of facility-by-facility satisfaction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 chart of Very Happy / Happy / Neutral / Needs Improvement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Auto-generated improvement suggestions per weak facility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86600" y="2423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gr.Blocks()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t="-2000" r="15052" b="-1"/>
          <a:stretch/>
        </p:blipFill>
        <p:spPr>
          <a:xfrm>
            <a:off x="7349667" y="0"/>
            <a:ext cx="488043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6590" cy="36259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625908"/>
            <a:ext cx="5836590" cy="32320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0"/>
            <a:ext cx="5951220" cy="36259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3625909"/>
            <a:ext cx="5600700" cy="32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9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 · IMPLEMENTATION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Student Analysis Tab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67400" cy="434340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Students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student rates all 11 facilities on 1-5 sliders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 computes their personal Happiness score instantly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 returned: Very Happy / Happy / Neutral / Needs Improvement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Any facility rated ≤ 2 is flagged as a low area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Targeted recommendation text generated automatically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157" y="1417320"/>
            <a:ext cx="4942143" cy="4663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 ·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Findings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 / 16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457200" y="1417320"/>
            <a:ext cx="1129777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Happiness Index – 65.1/100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overall student experience is at a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satisfaction level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Accuracy – 93.1%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93.1% accuracy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classifying students as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Satisfied or Not Satisfied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 are Moderately Satisfied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largest group is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Satisfaction (70 students)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Satisfaction (59)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Satisfaction (16)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Clubs are the Strongest Decision-Tree Driver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Clubs have the highest feature importance (49%)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they are the strongest predictor among the features used by the model.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 is a Major Improvement Area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 has the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lowest average facility rating (3.04/5)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an important area for improvement.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Important Drivers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Tree also identified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Cafeteria (18%), Safety (10%), Library (9%), and Transport (8%)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important features.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· DISCUSSION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the Results Tell Us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Wi-Fi is the weakest facility overall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556536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Lowest average rating (3.04/5) — a broad, widely-felt pain point across nearly every department.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0" y="19933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0" y="1938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But Clubs drives the outcome most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0" y="2557167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Decision Tree ranks Clubs as by far the strongest predictor (49% importance) of whether a student is satisfied — bigger than Wi-Fi's effect.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1422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4087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large "movable middle" exists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668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70 of 145 students fall in the Moderate Satisfaction cluster — the group most likely to shift with targeted improvements.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414223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0" y="4087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classifier confidence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240" y="4735331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93.1% accuracy shows the 11 facility ratings capture most of what determines overall satisfaction.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 / 16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FUTURE SCOPE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199" y="1087821"/>
            <a:ext cx="10357945" cy="4718619"/>
          </a:xfrm>
          <a:prstGeom prst="rect">
            <a:avLst/>
          </a:prstGeom>
          <a:solidFill>
            <a:srgbClr val="0A4B52"/>
          </a:solidFill>
          <a:ln/>
        </p:spPr>
        <p:txBody>
          <a:bodyPr/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Sentiment Analysis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Analyze students' written feedback and identify positive or negative sentiments.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Tracking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Collect feedback every semester to track changes in student satisfaction over time.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Connect the dashboard to updated survey data for continuous monitoring.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Early-Alert System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identify low-satisfaction student groups that may need attention.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&amp; Semester Analysis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satisfaction across departments and semesters in greater detail.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Deployment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Deploy the system for actual university use with secure access and regularly updated data. </a:t>
            </a:r>
          </a:p>
          <a:p>
            <a:pPr algn="just">
              <a:lnSpc>
                <a:spcPct val="150000"/>
              </a:lnSpc>
            </a:pPr>
            <a:endParaRPr lang="en-IN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Analytics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>
          <a:xfrm>
            <a:off x="2094128" y="6251765"/>
            <a:ext cx="2496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linkClick r:id="rId3"/>
              </a:rPr>
              <a:t>Github Link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hlinkClick r:id="rId4"/>
          </p:cNvPr>
          <p:cNvSpPr/>
          <p:nvPr/>
        </p:nvSpPr>
        <p:spPr>
          <a:xfrm>
            <a:off x="3773240" y="6297931"/>
            <a:ext cx="8083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https://github.com/Shashankrao412/data_mining_projects/tree/main/Final_project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997011" y="1010172"/>
            <a:ext cx="10357945" cy="4718619"/>
          </a:xfrm>
          <a:prstGeom prst="rect">
            <a:avLst/>
          </a:prstGeom>
          <a:solidFill>
            <a:srgbClr val="0A4B52"/>
          </a:solidFill>
          <a:ln/>
        </p:spPr>
        <p:txBody>
          <a:bodyPr/>
          <a:lstStyle/>
          <a:p>
            <a:pPr algn="just">
              <a:lnSpc>
                <a:spcPct val="150000"/>
              </a:lnSpc>
            </a:pPr>
            <a:endParaRPr lang="en-IN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499944" y="2526026"/>
            <a:ext cx="7315200" cy="1686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Analytics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3334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1869</Words>
  <Application>Microsoft Office PowerPoint</Application>
  <PresentationFormat>Widescreen</PresentationFormat>
  <Paragraphs>444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Shashank rao r</cp:lastModifiedBy>
  <cp:revision>24</cp:revision>
  <dcterms:created xsi:type="dcterms:W3CDTF">2026-08-18T06:27:02Z</dcterms:created>
  <dcterms:modified xsi:type="dcterms:W3CDTF">2026-08-19T14:31:56Z</dcterms:modified>
</cp:coreProperties>
</file>